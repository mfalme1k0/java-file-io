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e631231-d20e-f9ee-ed77-bd6943df1670}">
          <p14:sldIdLst>
            <p14:sldId id="256"/>
          </p14:sldIdLst>
        </p14:section>
        <p14:section name="1 Overview" id="{7b9060d7-350b-0fe3-a4bb-d650e790cf35}">
          <p14:sldIdLst>
            <p14:sldId id="257"/>
            <p14:sldId id="258"/>
            <p14:sldId id="259"/>
          </p14:sldIdLst>
        </p14:section>
        <p14:section name="2 Output" id="{50a2474b-5802-44be-6e0b-044348c97234}">
          <p14:sldIdLst>
            <p14:sldId id="260"/>
            <p14:sldId id="261"/>
            <p14:sldId id="262"/>
          </p14:sldIdLst>
        </p14:section>
        <p14:section name="3 Input" id="{3e2e0a32-cffc-5c6a-bd0f-bb37c5c2881b}">
          <p14:sldIdLst>
            <p14:sldId id="263"/>
            <p14:sldId id="264"/>
            <p14:sldId id="265"/>
          </p14:sldIdLst>
        </p14:section>
        <p14:section name="4 File" id="{ca854e43-0cbc-2f65-3b2f-3e9830dfd20e}">
          <p14:sldIdLst>
            <p14:sldId id="266"/>
            <p14:sldId id="267"/>
            <p14:sldId id="268"/>
          </p14:sldIdLst>
        </p14:section>
        <p14:section name="5 Filter" id="{0bc479b0-7401-652b-6e00-b82874694e3f}">
          <p14:sldIdLst>
            <p14:sldId id="269"/>
            <p14:sldId id="270"/>
            <p14:sldId id="271"/>
          </p14:sldIdLst>
        </p14:section>
        <p14:section name="6 Buffered" id="{7a55487b-a0c2-2136-6b85-ae4652ad0547}">
          <p14:sldIdLst>
            <p14:sldId id="272"/>
            <p14:sldId id="273"/>
            <p14:sldId id="274"/>
          </p14:sldIdLst>
        </p14:section>
        <p14:section name="Wrap-up" id="{c3cd2241-89c3-7f4d-23c3-fcd73d2409c9}">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concept, then a challenge you solve together. No prior Java stream knowledge needed.Welcome. Frame the session: one idea, then a challenge we solve together. About 4 minutes per concept, 6 to 8 per challenge. No prior stream knowledge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program is a house, streams are the water pipes in and out.Pipe analogy. Ask: where does data come from and go to in a program? Keyboard, screen, files, network. Land on: a stream is one direction only, and it carries bytes (numbers 0-255).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InputStream and OutputStream are blueprints, so code written for one pipe works for any pipe. Mention Reader/Writer exist for text but are out of scope today. Show System.in and System.out as pipes they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on Windows, Enter may send two bytes (13 and 10). Test in your own terminal first.Challenge 1, about 5 minutes. Let the audience guess what the numbers will be before you run it. Letter H is 72, i is 105. Point: text is numbers. Pitfall: Windows Enter may send bytes 13 and 10, so skip 13. Non-English letters can arrive as several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moves: write one byte, write many, flush, close. Stress that the same moves work for screen, file or memory. That is why the abstraction is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write(int) keeps only the lowest 8 bits. getBytes() turns text into bytes. Explain flush vs close with a bucket: flush tips out what is inside, close tips it out and throws the bucket away. Never close System.out in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2, about 5 minutes. Loop 65 to 90 with write(i). Ask: why does it print letters, not numbers? Because the screen interprets bytes as characters. Then write the bytes of JAVA in one call. Always flush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analogy. read() returns one byte or -1 when empty. read(array) fills a bucket and returns how many arrived. Ask the audience: what happens when the tap runs dry? Answer: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int not byte: so -1 can never be confused with real data. Biggest bug: ignoring the count returned by read(array), which prints stale leftovers from the previous chunk. ByteArrayInputStream lets us test with no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3, about 6 minutes. Loop: n = in.read(bucket) until -1. Print new String(bucket, 0, n). Optional: first print the whole bucket without n to show the stale-data bug on the last chunk (ams! plus leftover letters), then fix it. Total must be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moves, now pointed at a disk file. Overwrite is the default for FileOutputStream. Reading a missing file throws FileNotFoundException, which is normal and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Try-with-resources: closes automatically even when errors happen, like a self-closing fridge door. Relative paths start from the working folder. Bytes do not care about content, which is why one loop copies photos, text and music.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4, about 8 minutes. Order: open source, open target, loop, print count. Show the missing-file case by renaming photo.jpg. Check sizes match and open the copy. Bonus: append a log line using new FileOutputStream(name,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Coffee filter analogy. A filter wraps another stream and changes what flows through. Show that you can stack them: file stream wrapped by a buffered stream wrapped by your own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Decorator pattern in plain words: add behaviour without touching the original. Java's BufferedInputStream, DataInputStream and PrintStream are all filters. Outermost layer is what your code talks to. Remind: -1 must pass through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5, about 8 minutes. Override read(): int b = super.read(); if it is a to z, subtract 32. Gotcha to mention: FilterInputStream's array read does not call your read(), so also override read(byte[],int,int) if you want array reads to shout too. Bonus: ROT13 on the output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 vs single items. Disk trips are slow, memory is fast. A buffered stream makes one trip per chunk and serves the rest from memory. Ask: how many trips to read 10 million bytes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buffer is 8 KB. Buffered streams are filter streams from idea 5, so the loop does not change at all. Trade-off: a little memory for a lot of speed. Close or flush so the last bytes are written. Mention Files.copy for real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big.bin beforehand with 10 MB of random bytes. 50 MB makes the plain copy painfully slow on stage. Bonus: a third copy with an 8 KB array, and compare using Files.mismatch.Challenge 6, about 8 minutes. Generate big.bin beforehand (10 MB random bytes). Run plain first and let them wait. Then change only the wrapping. Print both times and the ratio. Say your real numbers aloud. Prove copies match with Files.mismatch (-1 means identical). Bonus: copy with an 8 KB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points. Remind them real projects use java.nio.file (Files, Path). Invite questions. Likely ones: why close, what if the file is huge, what is the difference between File and Path, what about text encodings.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accent1"/>
          </a:solidFill>
          <a:ln/>
        </p:spPr>
      </p:sp>
      <p:sp>
        <p:nvSpPr>
          <p:cNvPr id="3" name="Text 1"/>
          <p:cNvSpPr/>
          <p:nvPr>
            <p:ph idx="101" type="title" hasCustomPrompt="1"/>
          </p:nvPr>
        </p:nvSpPr>
        <p:spPr>
          <a:xfrm>
            <a:off x="548640" y="502920"/>
            <a:ext cx="8046720" cy="73152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chemeClr val="accent1"/>
          </a:solidFill>
          <a:ln/>
        </p:spPr>
      </p:sp>
      <p:sp>
        <p:nvSpPr>
          <p:cNvPr id="3" name="Text 1"/>
          <p:cNvSpPr/>
          <p:nvPr>
            <p:ph idx="101" type="title" hasCustomPrompt="1"/>
          </p:nvPr>
        </p:nvSpPr>
        <p:spPr>
          <a:xfrm>
            <a:off x="731520" y="1463040"/>
            <a:ext cx="7680960" cy="10972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463040"/>
            <a:ext cx="7680960" cy="1097280"/>
          </a:xfrm>
          <a:prstGeom prst="rect">
            <a:avLst/>
          </a:prstGeom>
          <a:noFill/>
          <a:ln/>
        </p:spPr>
        <p:txBody>
          <a:bodyPr wrap="square" lIns="0" tIns="0" rIns="0" bIns="0" rtlCol="0" anchor="t"/>
          <a:lstStyle/>
          <a:p>
            <a:pPr indent="0" marL="0">
              <a:buNone/>
            </a:pPr>
            <a:r>
              <a:rPr lang="en-US" sz="4400" b="1" dirty="0">
                <a:solidFill>
                  <a:schemeClr val="bg1"/>
                </a:solidFill>
              </a:rPr>
              <a:t>Java I/O Streams</a:t>
            </a:r>
            <a:endParaRPr lang="en-US" sz="4400" dirty="0"/>
          </a:p>
        </p:txBody>
      </p:sp>
      <p:sp>
        <p:nvSpPr>
          <p:cNvPr id="3" name="Text 1"/>
          <p:cNvSpPr txBox="1"/>
          <p:nvPr/>
        </p:nvSpPr>
        <p:spPr>
          <a:xfrm>
            <a:off x="731520" y="2743200"/>
            <a:ext cx="7315200" cy="731520"/>
          </a:xfrm>
          <a:prstGeom prst="rect">
            <a:avLst/>
          </a:prstGeom>
          <a:noFill/>
          <a:ln/>
        </p:spPr>
        <p:txBody>
          <a:bodyPr wrap="square" lIns="0" tIns="0" rIns="0" bIns="0" rtlCol="0" anchor="ctr"/>
          <a:lstStyle/>
          <a:p>
            <a:pPr indent="0" marL="0">
              <a:buNone/>
            </a:pPr>
            <a:r>
              <a:rPr lang="en-US" sz="1800" dirty="0">
                <a:solidFill>
                  <a:schemeClr val="bg2"/>
                </a:solidFill>
              </a:rPr>
              <a:t>How data flows in and out of a Java program. Six ideas, each followed by a live challenge.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1 · OVERVIEW</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Data flows like water in a pipe</a:t>
            </a:r>
            <a:endParaRPr lang="en-US" sz="2800" dirty="0"/>
          </a:p>
        </p:txBody>
      </p:sp>
      <p:sp>
        <p:nvSpPr>
          <p:cNvPr id="5"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A stream is a one-way pipe carrying data between your program and somewhere else: the keyboard, the screen, a file, the network.</a:t>
            </a:r>
            <a:endParaRPr lang="en-US" sz="1600" dirty="0"/>
          </a:p>
        </p:txBody>
      </p:sp>
      <p:sp>
        <p:nvSpPr>
          <p:cNvPr id="6" name="Card0"/>
          <p:cNvSpPr/>
          <p:nvPr/>
        </p:nvSpPr>
        <p:spPr>
          <a:xfrm>
            <a:off x="548640" y="2286000"/>
            <a:ext cx="2560320" cy="2194560"/>
          </a:xfrm>
          <a:prstGeom prst="roundRect">
            <a:avLst>
              <a:gd name="adj" fmla="val 4167"/>
            </a:avLst>
          </a:prstGeom>
          <a:solidFill>
            <a:schemeClr val="bg2"/>
          </a:solidFill>
          <a:ln w="12700">
            <a:solidFill>
              <a:schemeClr val="bg2"/>
            </a:solidFill>
            <a:prstDash val="solid"/>
          </a:ln>
        </p:spPr>
      </p:sp>
      <p:sp>
        <p:nvSpPr>
          <p:cNvPr id="7" name="CardText0"/>
          <p:cNvSpPr txBox="1"/>
          <p:nvPr/>
        </p:nvSpPr>
        <p:spPr>
          <a:xfrm>
            <a:off x="6858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Input stream</a:t>
            </a:r>
            <a:endParaRPr lang="en-US" sz="1500" dirty="0"/>
          </a:p>
          <a:p>
            <a:pPr indent="0" marL="0">
              <a:spcAft>
                <a:spcPts val="600"/>
              </a:spcAft>
              <a:buNone/>
            </a:pPr>
            <a:r>
              <a:rPr lang="en-US" sz="1300" dirty="0">
                <a:solidFill>
                  <a:schemeClr val="tx1"/>
                </a:solidFill>
              </a:rPr>
              <a:t>Data flows into your program. This is reading.</a:t>
            </a:r>
            <a:endParaRPr lang="en-US" sz="1500" dirty="0"/>
          </a:p>
        </p:txBody>
      </p:sp>
      <p:sp>
        <p:nvSpPr>
          <p:cNvPr id="8" name="Card1"/>
          <p:cNvSpPr/>
          <p:nvPr/>
        </p:nvSpPr>
        <p:spPr>
          <a:xfrm>
            <a:off x="3291840" y="2286000"/>
            <a:ext cx="2560320" cy="2194560"/>
          </a:xfrm>
          <a:prstGeom prst="roundRect">
            <a:avLst>
              <a:gd name="adj" fmla="val 4167"/>
            </a:avLst>
          </a:prstGeom>
          <a:solidFill>
            <a:schemeClr val="bg2"/>
          </a:solidFill>
          <a:ln w="12700">
            <a:solidFill>
              <a:schemeClr val="bg2"/>
            </a:solidFill>
            <a:prstDash val="solid"/>
          </a:ln>
        </p:spPr>
      </p:sp>
      <p:sp>
        <p:nvSpPr>
          <p:cNvPr id="9" name="CardText1"/>
          <p:cNvSpPr txBox="1"/>
          <p:nvPr/>
        </p:nvSpPr>
        <p:spPr>
          <a:xfrm>
            <a:off x="34290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Output stream</a:t>
            </a:r>
            <a:endParaRPr lang="en-US" sz="1500" dirty="0"/>
          </a:p>
          <a:p>
            <a:pPr indent="0" marL="0">
              <a:spcAft>
                <a:spcPts val="600"/>
              </a:spcAft>
              <a:buNone/>
            </a:pPr>
            <a:r>
              <a:rPr lang="en-US" sz="1300" dirty="0">
                <a:solidFill>
                  <a:schemeClr val="tx1"/>
                </a:solidFill>
              </a:rPr>
              <a:t>Data flows out of your program. This is writing.</a:t>
            </a:r>
            <a:endParaRPr lang="en-US" sz="1500" dirty="0"/>
          </a:p>
        </p:txBody>
      </p:sp>
      <p:sp>
        <p:nvSpPr>
          <p:cNvPr id="10" name="Card2"/>
          <p:cNvSpPr/>
          <p:nvPr/>
        </p:nvSpPr>
        <p:spPr>
          <a:xfrm>
            <a:off x="6035040" y="2286000"/>
            <a:ext cx="2560320" cy="2194560"/>
          </a:xfrm>
          <a:prstGeom prst="roundRect">
            <a:avLst>
              <a:gd name="adj" fmla="val 4167"/>
            </a:avLst>
          </a:prstGeom>
          <a:solidFill>
            <a:schemeClr val="bg2"/>
          </a:solidFill>
          <a:ln w="12700">
            <a:solidFill>
              <a:schemeClr val="bg2"/>
            </a:solidFill>
            <a:prstDash val="solid"/>
          </a:ln>
        </p:spPr>
      </p:sp>
      <p:sp>
        <p:nvSpPr>
          <p:cNvPr id="11" name="CardText2"/>
          <p:cNvSpPr txBox="1"/>
          <p:nvPr/>
        </p:nvSpPr>
        <p:spPr>
          <a:xfrm>
            <a:off x="61722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Bytes</a:t>
            </a:r>
            <a:endParaRPr lang="en-US" sz="1500" dirty="0"/>
          </a:p>
          <a:p>
            <a:pPr indent="0" marL="0">
              <a:spcAft>
                <a:spcPts val="600"/>
              </a:spcAft>
              <a:buNone/>
            </a:pPr>
            <a:r>
              <a:rPr lang="en-US" sz="1300" dirty="0">
                <a:solidFill>
                  <a:schemeClr val="tx1"/>
                </a:solidFill>
              </a:rPr>
              <a:t>The raw unit: a number from 0 to 255. Under the hood, even text is bytes.</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1 · OVERVIEW</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stream family tree</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InputStream and OutputStream are abstract blueprints. Every real stream (file, memory, network) is built on one of them.</a:t>
            </a:r>
            <a:endParaRPr lang="en-US" sz="1700" dirty="0"/>
          </a:p>
          <a:p>
            <a:pPr marL="342900" indent="-342900">
              <a:spcAft>
                <a:spcPts val="1200"/>
              </a:spcAft>
              <a:buSzPct val="100000"/>
              <a:buChar char="•"/>
            </a:pPr>
            <a:r>
              <a:rPr lang="en-US" sz="1700" dirty="0">
                <a:solidFill>
                  <a:schemeClr val="tx1"/>
                </a:solidFill>
              </a:rPr>
              <a:t>Code written against InputStream works with any source. That is the big idea: same code, different pipe.</a:t>
            </a:r>
            <a:endParaRPr lang="en-US" sz="1700" dirty="0"/>
          </a:p>
          <a:p>
            <a:pPr marL="342900" indent="-342900">
              <a:spcAft>
                <a:spcPts val="1200"/>
              </a:spcAft>
              <a:buSzPct val="100000"/>
              <a:buChar char="•"/>
            </a:pPr>
            <a:r>
              <a:rPr lang="en-US" sz="1700" dirty="0">
                <a:solidFill>
                  <a:schemeClr val="tx1"/>
                </a:solidFill>
              </a:rPr>
              <a:t>Streams move bytes. Reader and Writer classes move characters; we only use bytes today.</a:t>
            </a:r>
            <a:endParaRPr lang="en-US" sz="1700" dirty="0"/>
          </a:p>
          <a:p>
            <a:pPr marL="342900" indent="-342900">
              <a:spcAft>
                <a:spcPts val="1200"/>
              </a:spcAft>
              <a:buSzPct val="100000"/>
              <a:buChar char="•"/>
            </a:pPr>
            <a:r>
              <a:rPr lang="en-US" sz="1700" dirty="0">
                <a:solidFill>
                  <a:schemeClr val="tx1"/>
                </a:solidFill>
              </a:rPr>
              <a:t>Java hands you ready-made pipes: System.in (keyboard), System.out (screen), System.err (error screen).</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1</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Byte Echo</a:t>
            </a:r>
            <a:endParaRPr lang="en-US" sz="2800" dirty="0"/>
          </a:p>
        </p:txBody>
      </p:sp>
      <p:sp>
        <p:nvSpPr>
          <p:cNvPr id="5"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The user types a short word and presses Enter. Read from the keyboard one byte at a time and, for each byte, print the number received and the character it represents. Stop at Enter.</a:t>
            </a:r>
            <a:endParaRPr lang="en-US" sz="1400" dirty="0"/>
          </a:p>
        </p:txBody>
      </p:sp>
      <p:sp>
        <p:nvSpPr>
          <p:cNvPr id="6"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Read from System.in using the single-byte read method.</a:t>
            </a:r>
            <a:endParaRPr lang="en-US" sz="1300" dirty="0"/>
          </a:p>
          <a:p>
            <a:pPr marL="342900" indent="-342900">
              <a:spcAft>
                <a:spcPts val="500"/>
              </a:spcAft>
              <a:buSzPct val="100000"/>
              <a:buFont typeface="+mj-lt"/>
              <a:buAutoNum type="arabicPeriod" startAt="1"/>
            </a:pPr>
            <a:r>
              <a:rPr lang="en-US" sz="1300" dirty="0">
                <a:solidFill>
                  <a:schemeClr val="tx1"/>
                </a:solidFill>
              </a:rPr>
              <a:t>Print each byte as a number, then as a character.</a:t>
            </a:r>
            <a:endParaRPr lang="en-US" sz="1300" dirty="0"/>
          </a:p>
          <a:p>
            <a:pPr marL="342900" indent="-342900">
              <a:spcAft>
                <a:spcPts val="500"/>
              </a:spcAft>
              <a:buSzPct val="100000"/>
              <a:buFont typeface="+mj-lt"/>
              <a:buAutoNum type="arabicPeriod" startAt="1"/>
            </a:pPr>
            <a:r>
              <a:rPr lang="en-US" sz="1300" dirty="0">
                <a:solidFill>
                  <a:schemeClr val="tx1"/>
                </a:solidFill>
              </a:rPr>
              <a:t>Stop on the newline (byte 10) and print how many bytes arrived.</a:t>
            </a:r>
            <a:endParaRPr lang="en-US" sz="1300" dirty="0"/>
          </a:p>
        </p:txBody>
      </p:sp>
      <p:sp>
        <p:nvSpPr>
          <p:cNvPr id="7"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8"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Type: Hi</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72 -&gt; H</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105 -&gt; i</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Done (3 bytes incl. Enter)</a:t>
            </a:r>
            <a:endParaRPr lang="en-US" sz="1000" dirty="0"/>
          </a:p>
        </p:txBody>
      </p:sp>
      <p:sp>
        <p:nvSpPr>
          <p:cNvPr id="9"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input streams, bytes are numbers, System.in</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2 · OUTPUT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Writing: push bytes out</a:t>
            </a:r>
            <a:endParaRPr lang="en-US" sz="2800" dirty="0"/>
          </a:p>
        </p:txBody>
      </p:sp>
      <p:sp>
        <p:nvSpPr>
          <p:cNvPr id="4"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Every output stream shares the same few moves, whatever the destination.</a:t>
            </a:r>
            <a:endParaRPr lang="en-US" sz="1600" dirty="0"/>
          </a:p>
        </p:txBody>
      </p:sp>
      <p:sp>
        <p:nvSpPr>
          <p:cNvPr id="5" name="Card0"/>
          <p:cNvSpPr/>
          <p:nvPr/>
        </p:nvSpPr>
        <p:spPr>
          <a:xfrm>
            <a:off x="548640" y="2286000"/>
            <a:ext cx="1874520" cy="2194560"/>
          </a:xfrm>
          <a:prstGeom prst="roundRect">
            <a:avLst>
              <a:gd name="adj" fmla="val 4878"/>
            </a:avLst>
          </a:prstGeom>
          <a:solidFill>
            <a:schemeClr val="bg2"/>
          </a:solidFill>
          <a:ln w="12700">
            <a:solidFill>
              <a:schemeClr val="bg2"/>
            </a:solidFill>
            <a:prstDash val="solid"/>
          </a:ln>
        </p:spPr>
      </p:sp>
      <p:sp>
        <p:nvSpPr>
          <p:cNvPr id="6" name="CardText0"/>
          <p:cNvSpPr txBox="1"/>
          <p:nvPr/>
        </p:nvSpPr>
        <p:spPr>
          <a:xfrm>
            <a:off x="685800" y="2377440"/>
            <a:ext cx="16002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write(one byte)</a:t>
            </a:r>
            <a:endParaRPr lang="en-US" sz="1500" dirty="0"/>
          </a:p>
          <a:p>
            <a:pPr indent="0" marL="0">
              <a:spcAft>
                <a:spcPts val="600"/>
              </a:spcAft>
              <a:buNone/>
            </a:pPr>
            <a:r>
              <a:rPr lang="en-US" sz="1300" dirty="0">
                <a:solidFill>
                  <a:schemeClr val="tx1"/>
                </a:solidFill>
              </a:rPr>
              <a:t>Send a single value.</a:t>
            </a:r>
            <a:endParaRPr lang="en-US" sz="1500" dirty="0"/>
          </a:p>
        </p:txBody>
      </p:sp>
      <p:sp>
        <p:nvSpPr>
          <p:cNvPr id="7" name="Card1"/>
          <p:cNvSpPr/>
          <p:nvPr/>
        </p:nvSpPr>
        <p:spPr>
          <a:xfrm>
            <a:off x="2606040" y="2286000"/>
            <a:ext cx="1874520" cy="2194560"/>
          </a:xfrm>
          <a:prstGeom prst="roundRect">
            <a:avLst>
              <a:gd name="adj" fmla="val 4878"/>
            </a:avLst>
          </a:prstGeom>
          <a:solidFill>
            <a:schemeClr val="bg2"/>
          </a:solidFill>
          <a:ln w="12700">
            <a:solidFill>
              <a:schemeClr val="bg2"/>
            </a:solidFill>
            <a:prstDash val="solid"/>
          </a:ln>
        </p:spPr>
      </p:sp>
      <p:sp>
        <p:nvSpPr>
          <p:cNvPr id="8" name="CardText1"/>
          <p:cNvSpPr txBox="1"/>
          <p:nvPr/>
        </p:nvSpPr>
        <p:spPr>
          <a:xfrm>
            <a:off x="2743200" y="2377440"/>
            <a:ext cx="16002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write(many bytes)</a:t>
            </a:r>
            <a:endParaRPr lang="en-US" sz="1500" dirty="0"/>
          </a:p>
          <a:p>
            <a:pPr indent="0" marL="0">
              <a:spcAft>
                <a:spcPts val="600"/>
              </a:spcAft>
              <a:buNone/>
            </a:pPr>
            <a:r>
              <a:rPr lang="en-US" sz="1300" dirty="0">
                <a:solidFill>
                  <a:schemeClr val="tx1"/>
                </a:solidFill>
              </a:rPr>
              <a:t>Send a whole batch from an array at once.</a:t>
            </a:r>
            <a:endParaRPr lang="en-US" sz="1500" dirty="0"/>
          </a:p>
        </p:txBody>
      </p:sp>
      <p:sp>
        <p:nvSpPr>
          <p:cNvPr id="9" name="Card2"/>
          <p:cNvSpPr/>
          <p:nvPr/>
        </p:nvSpPr>
        <p:spPr>
          <a:xfrm>
            <a:off x="4663440" y="2286000"/>
            <a:ext cx="1874520" cy="2194560"/>
          </a:xfrm>
          <a:prstGeom prst="roundRect">
            <a:avLst>
              <a:gd name="adj" fmla="val 4878"/>
            </a:avLst>
          </a:prstGeom>
          <a:solidFill>
            <a:schemeClr val="bg2"/>
          </a:solidFill>
          <a:ln w="12700">
            <a:solidFill>
              <a:schemeClr val="bg2"/>
            </a:solidFill>
            <a:prstDash val="solid"/>
          </a:ln>
        </p:spPr>
      </p:sp>
      <p:sp>
        <p:nvSpPr>
          <p:cNvPr id="10" name="CardText2"/>
          <p:cNvSpPr txBox="1"/>
          <p:nvPr/>
        </p:nvSpPr>
        <p:spPr>
          <a:xfrm>
            <a:off x="4800600" y="2377440"/>
            <a:ext cx="16002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flush()</a:t>
            </a:r>
            <a:endParaRPr lang="en-US" sz="1500" dirty="0"/>
          </a:p>
          <a:p>
            <a:pPr indent="0" marL="0">
              <a:spcAft>
                <a:spcPts val="600"/>
              </a:spcAft>
              <a:buNone/>
            </a:pPr>
            <a:r>
              <a:rPr lang="en-US" sz="1300" dirty="0">
                <a:solidFill>
                  <a:schemeClr val="tx1"/>
                </a:solidFill>
              </a:rPr>
              <a:t>Push out anything still waiting inside the stream.</a:t>
            </a:r>
            <a:endParaRPr lang="en-US" sz="1500" dirty="0"/>
          </a:p>
        </p:txBody>
      </p:sp>
      <p:sp>
        <p:nvSpPr>
          <p:cNvPr id="11" name="Card3"/>
          <p:cNvSpPr/>
          <p:nvPr/>
        </p:nvSpPr>
        <p:spPr>
          <a:xfrm>
            <a:off x="6720840" y="2286000"/>
            <a:ext cx="1874520" cy="2194560"/>
          </a:xfrm>
          <a:prstGeom prst="roundRect">
            <a:avLst>
              <a:gd name="adj" fmla="val 4878"/>
            </a:avLst>
          </a:prstGeom>
          <a:solidFill>
            <a:schemeClr val="bg2"/>
          </a:solidFill>
          <a:ln w="12700">
            <a:solidFill>
              <a:schemeClr val="bg2"/>
            </a:solidFill>
            <a:prstDash val="solid"/>
          </a:ln>
        </p:spPr>
      </p:sp>
      <p:sp>
        <p:nvSpPr>
          <p:cNvPr id="12" name="CardText3"/>
          <p:cNvSpPr txBox="1"/>
          <p:nvPr/>
        </p:nvSpPr>
        <p:spPr>
          <a:xfrm>
            <a:off x="6858000" y="2377440"/>
            <a:ext cx="16002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close()</a:t>
            </a:r>
            <a:endParaRPr lang="en-US" sz="1500" dirty="0"/>
          </a:p>
          <a:p>
            <a:pPr indent="0" marL="0">
              <a:spcAft>
                <a:spcPts val="600"/>
              </a:spcAft>
              <a:buNone/>
            </a:pPr>
            <a:r>
              <a:rPr lang="en-US" sz="1300" dirty="0">
                <a:solidFill>
                  <a:schemeClr val="tx1"/>
                </a:solidFill>
              </a:rPr>
              <a:t>Finish, flush and release the pipe.</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2 · OUTPUT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Good to know</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write(int) takes an int but only the lowest 8 bits are used. Write 65 and you get the letter A.</a:t>
            </a:r>
            <a:endParaRPr lang="en-US" sz="1700" dirty="0"/>
          </a:p>
          <a:p>
            <a:pPr marL="342900" indent="-342900">
              <a:spcAft>
                <a:spcPts val="1200"/>
              </a:spcAft>
              <a:buSzPct val="100000"/>
              <a:buChar char="•"/>
            </a:pPr>
            <a:r>
              <a:rPr lang="en-US" sz="1700" dirty="0">
                <a:solidFill>
                  <a:schemeClr val="tx1"/>
                </a:solidFill>
              </a:rPr>
              <a:t>A String can give you its bytes with getBytes(), which is how text goes through a byte pipe.</a:t>
            </a:r>
            <a:endParaRPr lang="en-US" sz="1700" dirty="0"/>
          </a:p>
          <a:p>
            <a:pPr marL="342900" indent="-342900">
              <a:spcAft>
                <a:spcPts val="1200"/>
              </a:spcAft>
              <a:buSzPct val="100000"/>
              <a:buChar char="•"/>
            </a:pPr>
            <a:r>
              <a:rPr lang="en-US" sz="1700" dirty="0">
                <a:solidFill>
                  <a:schemeClr val="tx1"/>
                </a:solidFill>
              </a:rPr>
              <a:t>OutputStream is abstract: FileOutputStream, ByteArrayOutputStream and System.out (a PrintStream) are all children.</a:t>
            </a:r>
            <a:endParaRPr lang="en-US" sz="1700" dirty="0"/>
          </a:p>
          <a:p>
            <a:pPr marL="342900" indent="-342900">
              <a:spcAft>
                <a:spcPts val="1200"/>
              </a:spcAft>
              <a:buSzPct val="100000"/>
              <a:buChar char="•"/>
            </a:pPr>
            <a:r>
              <a:rPr lang="en-US" sz="1700" dirty="0">
                <a:solidFill>
                  <a:schemeClr val="tx1"/>
                </a:solidFill>
              </a:rPr>
              <a:t>Streams may hold data back for efficiency. flush() forces it out; close() flushes for you.</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2</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Alphabet Printer</a:t>
            </a:r>
            <a:endParaRPr lang="en-US" sz="2800" dirty="0"/>
          </a:p>
        </p:txBody>
      </p:sp>
      <p:sp>
        <p:nvSpPr>
          <p:cNvPr id="4"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Print the capital letters A to Z on screen without using println. Use System.out purely as an output stream and send raw byte values.</a:t>
            </a:r>
            <a:endParaRPr lang="en-US" sz="1400" dirty="0"/>
          </a:p>
        </p:txBody>
      </p:sp>
      <p:sp>
        <p:nvSpPr>
          <p:cNvPr id="5"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Loop over the numbers 65 to 90 and write each as a byte.</a:t>
            </a:r>
            <a:endParaRPr lang="en-US" sz="1300" dirty="0"/>
          </a:p>
          <a:p>
            <a:pPr marL="342900" indent="-342900">
              <a:spcAft>
                <a:spcPts val="500"/>
              </a:spcAft>
              <a:buSzPct val="100000"/>
              <a:buFont typeface="+mj-lt"/>
              <a:buAutoNum type="arabicPeriod" startAt="1"/>
            </a:pPr>
            <a:r>
              <a:rPr lang="en-US" sz="1300" dirty="0">
                <a:solidFill>
                  <a:schemeClr val="tx1"/>
                </a:solidFill>
              </a:rPr>
              <a:t>Write a newline byte (10), then flush.</a:t>
            </a:r>
            <a:endParaRPr lang="en-US" sz="1300" dirty="0"/>
          </a:p>
          <a:p>
            <a:pPr marL="342900" indent="-342900">
              <a:spcAft>
                <a:spcPts val="500"/>
              </a:spcAft>
              <a:buSzPct val="100000"/>
              <a:buFont typeface="+mj-lt"/>
              <a:buAutoNum type="arabicPeriod" startAt="1"/>
            </a:pPr>
            <a:r>
              <a:rPr lang="en-US" sz="1300" dirty="0">
                <a:solidFill>
                  <a:schemeClr val="tx1"/>
                </a:solidFill>
              </a:rPr>
              <a:t>Write the word JAVA using the many-bytes-at-once method (hint: strings can give you their bytes).</a:t>
            </a:r>
            <a:endParaRPr lang="en-US" sz="1300" dirty="0"/>
          </a:p>
        </p:txBody>
      </p:sp>
      <p:sp>
        <p:nvSpPr>
          <p:cNvPr id="6"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7"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ABCDEFGHIJKLMNOPQRSTUVWXYZ</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JAVA</a:t>
            </a:r>
            <a:endParaRPr lang="en-US" sz="1000" dirty="0"/>
          </a:p>
        </p:txBody>
      </p:sp>
      <p:sp>
        <p:nvSpPr>
          <p:cNvPr id="8"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single vs batch writes, flush(), strings are bytes</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3 · INPUT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Reading: pull bytes in</a:t>
            </a:r>
            <a:endParaRPr lang="en-US" sz="2800" dirty="0"/>
          </a:p>
        </p:txBody>
      </p:sp>
      <p:sp>
        <p:nvSpPr>
          <p:cNvPr id="4"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Like drinking from a tap: keep going until it runs dry.</a:t>
            </a:r>
            <a:endParaRPr lang="en-US" sz="1600" dirty="0"/>
          </a:p>
        </p:txBody>
      </p:sp>
      <p:sp>
        <p:nvSpPr>
          <p:cNvPr id="5" name="Card0"/>
          <p:cNvSpPr/>
          <p:nvPr/>
        </p:nvSpPr>
        <p:spPr>
          <a:xfrm>
            <a:off x="548640" y="2286000"/>
            <a:ext cx="2560320" cy="2194560"/>
          </a:xfrm>
          <a:prstGeom prst="roundRect">
            <a:avLst>
              <a:gd name="adj" fmla="val 4167"/>
            </a:avLst>
          </a:prstGeom>
          <a:solidFill>
            <a:schemeClr val="bg2"/>
          </a:solidFill>
          <a:ln w="12700">
            <a:solidFill>
              <a:schemeClr val="bg2"/>
            </a:solidFill>
            <a:prstDash val="solid"/>
          </a:ln>
        </p:spPr>
      </p:sp>
      <p:sp>
        <p:nvSpPr>
          <p:cNvPr id="6" name="CardText0"/>
          <p:cNvSpPr txBox="1"/>
          <p:nvPr/>
        </p:nvSpPr>
        <p:spPr>
          <a:xfrm>
            <a:off x="6858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read()</a:t>
            </a:r>
            <a:endParaRPr lang="en-US" sz="1500" dirty="0"/>
          </a:p>
          <a:p>
            <a:pPr indent="0" marL="0">
              <a:spcAft>
                <a:spcPts val="600"/>
              </a:spcAft>
              <a:buNone/>
            </a:pPr>
            <a:r>
              <a:rPr lang="en-US" sz="1300" dirty="0">
                <a:solidFill>
                  <a:schemeClr val="tx1"/>
                </a:solidFill>
              </a:rPr>
              <a:t>Returns one byte (0 to 255) as a number.</a:t>
            </a:r>
            <a:endParaRPr lang="en-US" sz="1500" dirty="0"/>
          </a:p>
        </p:txBody>
      </p:sp>
      <p:sp>
        <p:nvSpPr>
          <p:cNvPr id="7" name="Card1"/>
          <p:cNvSpPr/>
          <p:nvPr/>
        </p:nvSpPr>
        <p:spPr>
          <a:xfrm>
            <a:off x="3291840" y="2286000"/>
            <a:ext cx="2560320" cy="2194560"/>
          </a:xfrm>
          <a:prstGeom prst="roundRect">
            <a:avLst>
              <a:gd name="adj" fmla="val 4167"/>
            </a:avLst>
          </a:prstGeom>
          <a:solidFill>
            <a:schemeClr val="bg2"/>
          </a:solidFill>
          <a:ln w="12700">
            <a:solidFill>
              <a:schemeClr val="bg2"/>
            </a:solidFill>
            <a:prstDash val="solid"/>
          </a:ln>
        </p:spPr>
      </p:sp>
      <p:sp>
        <p:nvSpPr>
          <p:cNvPr id="8" name="CardText1"/>
          <p:cNvSpPr txBox="1"/>
          <p:nvPr/>
        </p:nvSpPr>
        <p:spPr>
          <a:xfrm>
            <a:off x="34290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The end signal</a:t>
            </a:r>
            <a:endParaRPr lang="en-US" sz="1500" dirty="0"/>
          </a:p>
          <a:p>
            <a:pPr indent="0" marL="0">
              <a:spcAft>
                <a:spcPts val="600"/>
              </a:spcAft>
              <a:buNone/>
            </a:pPr>
            <a:r>
              <a:rPr lang="en-US" sz="1300" dirty="0">
                <a:solidFill>
                  <a:schemeClr val="tx1"/>
                </a:solidFill>
              </a:rPr>
              <a:t>When nothing is left, read() returns -1.</a:t>
            </a:r>
            <a:endParaRPr lang="en-US" sz="1500" dirty="0"/>
          </a:p>
        </p:txBody>
      </p:sp>
      <p:sp>
        <p:nvSpPr>
          <p:cNvPr id="9" name="Card2"/>
          <p:cNvSpPr/>
          <p:nvPr/>
        </p:nvSpPr>
        <p:spPr>
          <a:xfrm>
            <a:off x="6035040" y="2286000"/>
            <a:ext cx="2560320" cy="2194560"/>
          </a:xfrm>
          <a:prstGeom prst="roundRect">
            <a:avLst>
              <a:gd name="adj" fmla="val 4167"/>
            </a:avLst>
          </a:prstGeom>
          <a:solidFill>
            <a:schemeClr val="bg2"/>
          </a:solidFill>
          <a:ln w="12700">
            <a:solidFill>
              <a:schemeClr val="bg2"/>
            </a:solidFill>
            <a:prstDash val="solid"/>
          </a:ln>
        </p:spPr>
      </p:sp>
      <p:sp>
        <p:nvSpPr>
          <p:cNvPr id="10" name="CardText2"/>
          <p:cNvSpPr txBox="1"/>
          <p:nvPr/>
        </p:nvSpPr>
        <p:spPr>
          <a:xfrm>
            <a:off x="61722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read(many)</a:t>
            </a:r>
            <a:endParaRPr lang="en-US" sz="1500" dirty="0"/>
          </a:p>
          <a:p>
            <a:pPr indent="0" marL="0">
              <a:spcAft>
                <a:spcPts val="600"/>
              </a:spcAft>
              <a:buNone/>
            </a:pPr>
            <a:r>
              <a:rPr lang="en-US" sz="1300" dirty="0">
                <a:solidFill>
                  <a:schemeClr val="tx1"/>
                </a:solidFill>
              </a:rPr>
              <a:t>Fills a bucket (array) and returns how many bytes actually arrived.</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3 · INPUT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Gotchas</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read() returns an int, not a byte, so that -1 can mean 'finished' without clashing with a real byte value.</a:t>
            </a:r>
            <a:endParaRPr lang="en-US" sz="1700" dirty="0"/>
          </a:p>
          <a:p>
            <a:pPr marL="342900" indent="-342900">
              <a:spcAft>
                <a:spcPts val="1200"/>
              </a:spcAft>
              <a:buSzPct val="100000"/>
              <a:buChar char="•"/>
            </a:pPr>
            <a:r>
              <a:rPr lang="en-US" sz="1700" dirty="0">
                <a:solidFill>
                  <a:schemeClr val="tx1"/>
                </a:solidFill>
              </a:rPr>
              <a:t>read(array) may fill only part of the bucket. Always use the returned count, never assume the array is full.</a:t>
            </a:r>
            <a:endParaRPr lang="en-US" sz="1700" dirty="0"/>
          </a:p>
          <a:p>
            <a:pPr marL="342900" indent="-342900">
              <a:spcAft>
                <a:spcPts val="1200"/>
              </a:spcAft>
              <a:buSzPct val="100000"/>
              <a:buChar char="•"/>
            </a:pPr>
            <a:r>
              <a:rPr lang="en-US" sz="1700" dirty="0">
                <a:solidFill>
                  <a:schemeClr val="tx1"/>
                </a:solidFill>
              </a:rPr>
              <a:t>The last chunk is usually shorter. This is the most common bug beginners hit.</a:t>
            </a:r>
            <a:endParaRPr lang="en-US" sz="1700" dirty="0"/>
          </a:p>
          <a:p>
            <a:pPr marL="342900" indent="-342900">
              <a:spcAft>
                <a:spcPts val="1200"/>
              </a:spcAft>
              <a:buSzPct val="100000"/>
              <a:buChar char="•"/>
            </a:pPr>
            <a:r>
              <a:rPr lang="en-US" sz="1700" dirty="0">
                <a:solidFill>
                  <a:schemeClr val="tx1"/>
                </a:solidFill>
              </a:rPr>
              <a:t>ByteArrayInputStream reads from memory, which makes it perfect for testing without any files.</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3</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Chunk Reader</a:t>
            </a:r>
            <a:endParaRPr lang="en-US" sz="2800" dirty="0"/>
          </a:p>
        </p:txBody>
      </p:sp>
      <p:sp>
        <p:nvSpPr>
          <p:cNvPr id="4"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The text 'Hello, Java streams!' sits in memory. Wrap it in an input stream, read it in chunks of 8 bytes, print each chunk, then report the total.</a:t>
            </a:r>
            <a:endParaRPr lang="en-US" sz="1400" dirty="0"/>
          </a:p>
        </p:txBody>
      </p:sp>
      <p:sp>
        <p:nvSpPr>
          <p:cNvPr id="5"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Turn the string into bytes and wrap them in a ByteArrayInputStream.</a:t>
            </a:r>
            <a:endParaRPr lang="en-US" sz="1300" dirty="0"/>
          </a:p>
          <a:p>
            <a:pPr marL="342900" indent="-342900">
              <a:spcAft>
                <a:spcPts val="500"/>
              </a:spcAft>
              <a:buSzPct val="100000"/>
              <a:buFont typeface="+mj-lt"/>
              <a:buAutoNum type="arabicPeriod" startAt="1"/>
            </a:pPr>
            <a:r>
              <a:rPr lang="en-US" sz="1300" dirty="0">
                <a:solidFill>
                  <a:schemeClr val="tx1"/>
                </a:solidFill>
              </a:rPr>
              <a:t>Read into an 8-byte bucket until read returns -1.</a:t>
            </a:r>
            <a:endParaRPr lang="en-US" sz="1300" dirty="0"/>
          </a:p>
          <a:p>
            <a:pPr marL="342900" indent="-342900">
              <a:spcAft>
                <a:spcPts val="500"/>
              </a:spcAft>
              <a:buSzPct val="100000"/>
              <a:buFont typeface="+mj-lt"/>
              <a:buAutoNum type="arabicPeriod" startAt="1"/>
            </a:pPr>
            <a:r>
              <a:rPr lang="en-US" sz="1300" dirty="0">
                <a:solidFill>
                  <a:schemeClr val="tx1"/>
                </a:solidFill>
              </a:rPr>
              <a:t>Print only the bytes actually received (the last chunk is shorter!).</a:t>
            </a:r>
            <a:endParaRPr lang="en-US" sz="1300" dirty="0"/>
          </a:p>
        </p:txBody>
      </p:sp>
      <p:sp>
        <p:nvSpPr>
          <p:cNvPr id="6"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7"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Hello, J</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ava stre</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ams!</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Total: 20 bytes</a:t>
            </a:r>
            <a:endParaRPr lang="en-US" sz="1000" dirty="0"/>
          </a:p>
        </p:txBody>
      </p:sp>
      <p:sp>
        <p:nvSpPr>
          <p:cNvPr id="8"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read-into-array, the -1 rule, the partial last chunk</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4 · FILE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Connect the pipe to a file</a:t>
            </a:r>
            <a:endParaRPr lang="en-US" sz="2800" dirty="0"/>
          </a:p>
        </p:txBody>
      </p:sp>
      <p:sp>
        <p:nvSpPr>
          <p:cNvPr id="4"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The same read and write moves, now pointed at a real file on disk.</a:t>
            </a:r>
            <a:endParaRPr lang="en-US" sz="1600" dirty="0"/>
          </a:p>
        </p:txBody>
      </p:sp>
      <p:sp>
        <p:nvSpPr>
          <p:cNvPr id="5" name="Card0"/>
          <p:cNvSpPr/>
          <p:nvPr/>
        </p:nvSpPr>
        <p:spPr>
          <a:xfrm>
            <a:off x="548640" y="2286000"/>
            <a:ext cx="2560320" cy="2194560"/>
          </a:xfrm>
          <a:prstGeom prst="roundRect">
            <a:avLst>
              <a:gd name="adj" fmla="val 4167"/>
            </a:avLst>
          </a:prstGeom>
          <a:solidFill>
            <a:schemeClr val="bg2"/>
          </a:solidFill>
          <a:ln w="12700">
            <a:solidFill>
              <a:schemeClr val="bg2"/>
            </a:solidFill>
            <a:prstDash val="solid"/>
          </a:ln>
        </p:spPr>
      </p:sp>
      <p:sp>
        <p:nvSpPr>
          <p:cNvPr id="6" name="CardText0"/>
          <p:cNvSpPr txBox="1"/>
          <p:nvPr/>
        </p:nvSpPr>
        <p:spPr>
          <a:xfrm>
            <a:off x="6858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FileInputStream</a:t>
            </a:r>
            <a:endParaRPr lang="en-US" sz="1500" dirty="0"/>
          </a:p>
          <a:p>
            <a:pPr indent="0" marL="0">
              <a:spcAft>
                <a:spcPts val="600"/>
              </a:spcAft>
              <a:buNone/>
            </a:pPr>
            <a:r>
              <a:rPr lang="en-US" sz="1300" dirty="0">
                <a:solidFill>
                  <a:schemeClr val="tx1"/>
                </a:solidFill>
              </a:rPr>
              <a:t>Reads bytes from a file.</a:t>
            </a:r>
            <a:endParaRPr lang="en-US" sz="1500" dirty="0"/>
          </a:p>
        </p:txBody>
      </p:sp>
      <p:sp>
        <p:nvSpPr>
          <p:cNvPr id="7" name="Card1"/>
          <p:cNvSpPr/>
          <p:nvPr/>
        </p:nvSpPr>
        <p:spPr>
          <a:xfrm>
            <a:off x="3291840" y="2286000"/>
            <a:ext cx="2560320" cy="2194560"/>
          </a:xfrm>
          <a:prstGeom prst="roundRect">
            <a:avLst>
              <a:gd name="adj" fmla="val 4167"/>
            </a:avLst>
          </a:prstGeom>
          <a:solidFill>
            <a:schemeClr val="bg2"/>
          </a:solidFill>
          <a:ln w="12700">
            <a:solidFill>
              <a:schemeClr val="bg2"/>
            </a:solidFill>
            <a:prstDash val="solid"/>
          </a:ln>
        </p:spPr>
      </p:sp>
      <p:sp>
        <p:nvSpPr>
          <p:cNvPr id="8" name="CardText1"/>
          <p:cNvSpPr txBox="1"/>
          <p:nvPr/>
        </p:nvSpPr>
        <p:spPr>
          <a:xfrm>
            <a:off x="34290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FileOutputStream</a:t>
            </a:r>
            <a:endParaRPr lang="en-US" sz="1500" dirty="0"/>
          </a:p>
          <a:p>
            <a:pPr indent="0" marL="0">
              <a:spcAft>
                <a:spcPts val="600"/>
              </a:spcAft>
              <a:buNone/>
            </a:pPr>
            <a:r>
              <a:rPr lang="en-US" sz="1300" dirty="0">
                <a:solidFill>
                  <a:schemeClr val="tx1"/>
                </a:solidFill>
              </a:rPr>
              <a:t>Writes bytes to a file. Overwrites by default; append mode keeps old content.</a:t>
            </a:r>
            <a:endParaRPr lang="en-US" sz="1500" dirty="0"/>
          </a:p>
        </p:txBody>
      </p:sp>
      <p:sp>
        <p:nvSpPr>
          <p:cNvPr id="9" name="Card2"/>
          <p:cNvSpPr/>
          <p:nvPr/>
        </p:nvSpPr>
        <p:spPr>
          <a:xfrm>
            <a:off x="6035040" y="2286000"/>
            <a:ext cx="2560320" cy="2194560"/>
          </a:xfrm>
          <a:prstGeom prst="roundRect">
            <a:avLst>
              <a:gd name="adj" fmla="val 4167"/>
            </a:avLst>
          </a:prstGeom>
          <a:solidFill>
            <a:schemeClr val="bg2"/>
          </a:solidFill>
          <a:ln w="12700">
            <a:solidFill>
              <a:schemeClr val="bg2"/>
            </a:solidFill>
            <a:prstDash val="solid"/>
          </a:ln>
        </p:spPr>
      </p:sp>
      <p:sp>
        <p:nvSpPr>
          <p:cNvPr id="10" name="CardText2"/>
          <p:cNvSpPr txBox="1"/>
          <p:nvPr/>
        </p:nvSpPr>
        <p:spPr>
          <a:xfrm>
            <a:off x="61722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Failure is normal</a:t>
            </a:r>
            <a:endParaRPr lang="en-US" sz="1500" dirty="0"/>
          </a:p>
          <a:p>
            <a:pPr indent="0" marL="0">
              <a:spcAft>
                <a:spcPts val="600"/>
              </a:spcAft>
              <a:buNone/>
            </a:pPr>
            <a:r>
              <a:rPr lang="en-US" sz="1300" dirty="0">
                <a:solidFill>
                  <a:schemeClr val="tx1"/>
                </a:solidFill>
              </a:rPr>
              <a:t>Missing file, no permission, disk full. Java forces you to handle it.</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4 · FILE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Files in practice</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Opening a file that doesn't exist for reading throws FileNotFoundException. Catch it and show a friendly message.</a:t>
            </a:r>
            <a:endParaRPr lang="en-US" sz="1700" dirty="0"/>
          </a:p>
          <a:p>
            <a:pPr marL="342900" indent="-342900">
              <a:spcAft>
                <a:spcPts val="1200"/>
              </a:spcAft>
              <a:buSzPct val="100000"/>
              <a:buChar char="•"/>
            </a:pPr>
            <a:r>
              <a:rPr lang="en-US" sz="1700" dirty="0">
                <a:solidFill>
                  <a:schemeClr val="tx1"/>
                </a:solidFill>
              </a:rPr>
              <a:t>Pass true as a second argument to FileOutputStream to append instead of overwrite.</a:t>
            </a:r>
            <a:endParaRPr lang="en-US" sz="1700" dirty="0"/>
          </a:p>
          <a:p>
            <a:pPr marL="342900" indent="-342900">
              <a:spcAft>
                <a:spcPts val="1200"/>
              </a:spcAft>
              <a:buSzPct val="100000"/>
              <a:buChar char="•"/>
            </a:pPr>
            <a:r>
              <a:rPr lang="en-US" sz="1700" dirty="0">
                <a:solidFill>
                  <a:schemeClr val="tx1"/>
                </a:solidFill>
              </a:rPr>
              <a:t>Try-with-resources closes streams automatically, even when an error happens, like a self-closing fridge door.</a:t>
            </a:r>
            <a:endParaRPr lang="en-US" sz="1700" dirty="0"/>
          </a:p>
          <a:p>
            <a:pPr marL="342900" indent="-342900">
              <a:spcAft>
                <a:spcPts val="1200"/>
              </a:spcAft>
              <a:buSzPct val="100000"/>
              <a:buChar char="•"/>
            </a:pPr>
            <a:r>
              <a:rPr lang="en-US" sz="1700" dirty="0">
                <a:solidFill>
                  <a:schemeClr val="tx1"/>
                </a:solidFill>
              </a:rPr>
              <a:t>Bytes don't care what's inside. A text file, a photo and a song are all copied the same way.</a:t>
            </a:r>
            <a:endParaRPr lang="en-US" sz="1700" dirty="0"/>
          </a:p>
          <a:p>
            <a:pPr marL="342900" indent="-342900">
              <a:spcAft>
                <a:spcPts val="1200"/>
              </a:spcAft>
              <a:buSzPct val="100000"/>
              <a:buChar char="•"/>
            </a:pPr>
            <a:r>
              <a:rPr lang="en-US" sz="1700" dirty="0">
                <a:solidFill>
                  <a:schemeClr val="tx1"/>
                </a:solidFill>
              </a:rPr>
              <a:t>A relative path like photo.jpg is looked up from the program's working folder, not from the source file.</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4</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Copy Machine</a:t>
            </a:r>
            <a:endParaRPr lang="en-US" sz="2800" dirty="0"/>
          </a:p>
        </p:txBody>
      </p:sp>
      <p:sp>
        <p:nvSpPr>
          <p:cNvPr id="4"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Copy photo.jpg to photo_copy.jpg. The copy must open perfectly in an image viewer.</a:t>
            </a:r>
            <a:endParaRPr lang="en-US" sz="1400" dirty="0"/>
          </a:p>
        </p:txBody>
      </p:sp>
      <p:sp>
        <p:nvSpPr>
          <p:cNvPr id="5"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Open an input stream on the source and an output stream on the target.</a:t>
            </a:r>
            <a:endParaRPr lang="en-US" sz="1300" dirty="0"/>
          </a:p>
          <a:p>
            <a:pPr marL="342900" indent="-342900">
              <a:spcAft>
                <a:spcPts val="500"/>
              </a:spcAft>
              <a:buSzPct val="100000"/>
              <a:buFont typeface="+mj-lt"/>
              <a:buAutoNum type="arabicPeriod" startAt="1"/>
            </a:pPr>
            <a:r>
              <a:rPr lang="en-US" sz="1300" dirty="0">
                <a:solidFill>
                  <a:schemeClr val="tx1"/>
                </a:solidFill>
              </a:rPr>
              <a:t>Read a byte, write a byte, repeat until -1.</a:t>
            </a:r>
            <a:endParaRPr lang="en-US" sz="1300" dirty="0"/>
          </a:p>
          <a:p>
            <a:pPr marL="342900" indent="-342900">
              <a:spcAft>
                <a:spcPts val="500"/>
              </a:spcAft>
              <a:buSzPct val="100000"/>
              <a:buFont typeface="+mj-lt"/>
              <a:buAutoNum type="arabicPeriod" startAt="1"/>
            </a:pPr>
            <a:r>
              <a:rPr lang="en-US" sz="1300" dirty="0">
                <a:solidFill>
                  <a:schemeClr val="tx1"/>
                </a:solidFill>
              </a:rPr>
              <a:t>Close both streams, even if something fails.</a:t>
            </a:r>
            <a:endParaRPr lang="en-US" sz="1300" dirty="0"/>
          </a:p>
          <a:p>
            <a:pPr marL="342900" indent="-342900">
              <a:spcAft>
                <a:spcPts val="500"/>
              </a:spcAft>
              <a:buSzPct val="100000"/>
              <a:buFont typeface="+mj-lt"/>
              <a:buAutoNum type="arabicPeriod" startAt="1"/>
            </a:pPr>
            <a:r>
              <a:rPr lang="en-US" sz="1300" dirty="0">
                <a:solidFill>
                  <a:schemeClr val="tx1"/>
                </a:solidFill>
              </a:rPr>
              <a:t>If photo.jpg is missing, print 'Source file not found' and exit politely.</a:t>
            </a:r>
            <a:endParaRPr lang="en-US" sz="1300" dirty="0"/>
          </a:p>
          <a:p>
            <a:pPr marL="342900" indent="-342900">
              <a:spcAft>
                <a:spcPts val="500"/>
              </a:spcAft>
              <a:buSzPct val="100000"/>
              <a:buFont typeface="+mj-lt"/>
              <a:buAutoNum type="arabicPeriod" startAt="1"/>
            </a:pPr>
            <a:r>
              <a:rPr lang="en-US" sz="1300" dirty="0">
                <a:solidFill>
                  <a:schemeClr val="tx1"/>
                </a:solidFill>
              </a:rPr>
              <a:t>Print both file sizes. They must match.</a:t>
            </a:r>
            <a:endParaRPr lang="en-US" sz="1300" dirty="0"/>
          </a:p>
        </p:txBody>
      </p:sp>
      <p:sp>
        <p:nvSpPr>
          <p:cNvPr id="6"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7"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Copied 482113 bytes</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Original: 482113</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Copy:     482113</a:t>
            </a:r>
            <a:endParaRPr lang="en-US" sz="1000" dirty="0"/>
          </a:p>
        </p:txBody>
      </p:sp>
      <p:sp>
        <p:nvSpPr>
          <p:cNvPr id="8"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file streams, binary data, closing, error handling. Bonus: append a line to copy-log.txt.</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5 · FILTER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Wrap a pipe to change what flows through</a:t>
            </a:r>
            <a:endParaRPr lang="en-US" sz="2800" dirty="0"/>
          </a:p>
        </p:txBody>
      </p:sp>
      <p:sp>
        <p:nvSpPr>
          <p:cNvPr id="4"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Like a coffee filter on a mug: same liquid, treated on the way through.</a:t>
            </a:r>
            <a:endParaRPr lang="en-US" sz="1600" dirty="0"/>
          </a:p>
        </p:txBody>
      </p:sp>
      <p:sp>
        <p:nvSpPr>
          <p:cNvPr id="5" name="Card0"/>
          <p:cNvSpPr/>
          <p:nvPr/>
        </p:nvSpPr>
        <p:spPr>
          <a:xfrm>
            <a:off x="548640" y="2286000"/>
            <a:ext cx="2560320" cy="2194560"/>
          </a:xfrm>
          <a:prstGeom prst="roundRect">
            <a:avLst>
              <a:gd name="adj" fmla="val 4167"/>
            </a:avLst>
          </a:prstGeom>
          <a:solidFill>
            <a:schemeClr val="bg2"/>
          </a:solidFill>
          <a:ln w="12700">
            <a:solidFill>
              <a:schemeClr val="bg2"/>
            </a:solidFill>
            <a:prstDash val="solid"/>
          </a:ln>
        </p:spPr>
      </p:sp>
      <p:sp>
        <p:nvSpPr>
          <p:cNvPr id="6" name="CardText0"/>
          <p:cNvSpPr txBox="1"/>
          <p:nvPr/>
        </p:nvSpPr>
        <p:spPr>
          <a:xfrm>
            <a:off x="6858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Wrapping</a:t>
            </a:r>
            <a:endParaRPr lang="en-US" sz="1500" dirty="0"/>
          </a:p>
          <a:p>
            <a:pPr indent="0" marL="0">
              <a:spcAft>
                <a:spcPts val="600"/>
              </a:spcAft>
              <a:buNone/>
            </a:pPr>
            <a:r>
              <a:rPr lang="en-US" sz="1300" dirty="0">
                <a:solidFill>
                  <a:schemeClr val="tx1"/>
                </a:solidFill>
              </a:rPr>
              <a:t>Pass one stream into another's constructor.</a:t>
            </a:r>
            <a:endParaRPr lang="en-US" sz="1500" dirty="0"/>
          </a:p>
        </p:txBody>
      </p:sp>
      <p:sp>
        <p:nvSpPr>
          <p:cNvPr id="7" name="Card1"/>
          <p:cNvSpPr/>
          <p:nvPr/>
        </p:nvSpPr>
        <p:spPr>
          <a:xfrm>
            <a:off x="3291840" y="2286000"/>
            <a:ext cx="2560320" cy="2194560"/>
          </a:xfrm>
          <a:prstGeom prst="roundRect">
            <a:avLst>
              <a:gd name="adj" fmla="val 4167"/>
            </a:avLst>
          </a:prstGeom>
          <a:solidFill>
            <a:schemeClr val="bg2"/>
          </a:solidFill>
          <a:ln w="12700">
            <a:solidFill>
              <a:schemeClr val="bg2"/>
            </a:solidFill>
            <a:prstDash val="solid"/>
          </a:ln>
        </p:spPr>
      </p:sp>
      <p:sp>
        <p:nvSpPr>
          <p:cNvPr id="8" name="CardText1"/>
          <p:cNvSpPr txBox="1"/>
          <p:nvPr/>
        </p:nvSpPr>
        <p:spPr>
          <a:xfrm>
            <a:off x="34290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Stacking</a:t>
            </a:r>
            <a:endParaRPr lang="en-US" sz="1500" dirty="0"/>
          </a:p>
          <a:p>
            <a:pPr indent="0" marL="0">
              <a:spcAft>
                <a:spcPts val="600"/>
              </a:spcAft>
              <a:buNone/>
            </a:pPr>
            <a:r>
              <a:rPr lang="en-US" sz="1300" dirty="0">
                <a:solidFill>
                  <a:schemeClr val="tx1"/>
                </a:solidFill>
              </a:rPr>
              <a:t>Wrap as many layers as you like, in any order that makes sense.</a:t>
            </a:r>
            <a:endParaRPr lang="en-US" sz="1500" dirty="0"/>
          </a:p>
        </p:txBody>
      </p:sp>
      <p:sp>
        <p:nvSpPr>
          <p:cNvPr id="9" name="Card2"/>
          <p:cNvSpPr/>
          <p:nvPr/>
        </p:nvSpPr>
        <p:spPr>
          <a:xfrm>
            <a:off x="6035040" y="2286000"/>
            <a:ext cx="2560320" cy="2194560"/>
          </a:xfrm>
          <a:prstGeom prst="roundRect">
            <a:avLst>
              <a:gd name="adj" fmla="val 4167"/>
            </a:avLst>
          </a:prstGeom>
          <a:solidFill>
            <a:schemeClr val="bg2"/>
          </a:solidFill>
          <a:ln w="12700">
            <a:solidFill>
              <a:schemeClr val="bg2"/>
            </a:solidFill>
            <a:prstDash val="solid"/>
          </a:ln>
        </p:spPr>
      </p:sp>
      <p:sp>
        <p:nvSpPr>
          <p:cNvPr id="10" name="CardText2"/>
          <p:cNvSpPr txBox="1"/>
          <p:nvPr/>
        </p:nvSpPr>
        <p:spPr>
          <a:xfrm>
            <a:off x="61722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Customising</a:t>
            </a:r>
            <a:endParaRPr lang="en-US" sz="1500" dirty="0"/>
          </a:p>
          <a:p>
            <a:pPr indent="0" marL="0">
              <a:spcAft>
                <a:spcPts val="600"/>
              </a:spcAft>
              <a:buNone/>
            </a:pPr>
            <a:r>
              <a:rPr lang="en-US" sz="1300" dirty="0">
                <a:solidFill>
                  <a:schemeClr val="tx1"/>
                </a:solidFill>
              </a:rPr>
              <a:t>Extend FilterInputStream and change read() to transform the data.</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5 · FILTER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Building your own</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A filter keeps the wrapped stream in a field called in. Your overridden read() asks it for a byte, changes it, passes it on.</a:t>
            </a:r>
            <a:endParaRPr lang="en-US" sz="1700" dirty="0"/>
          </a:p>
          <a:p>
            <a:pPr marL="342900" indent="-342900">
              <a:spcAft>
                <a:spcPts val="1200"/>
              </a:spcAft>
              <a:buSzPct val="100000"/>
              <a:buChar char="•"/>
            </a:pPr>
            <a:r>
              <a:rPr lang="en-US" sz="1700" dirty="0">
                <a:solidFill>
                  <a:schemeClr val="tx1"/>
                </a:solidFill>
              </a:rPr>
              <a:t>This is the Decorator pattern: add behaviour without changing the original class.</a:t>
            </a:r>
            <a:endParaRPr lang="en-US" sz="1700" dirty="0"/>
          </a:p>
          <a:p>
            <a:pPr marL="342900" indent="-342900">
              <a:spcAft>
                <a:spcPts val="1200"/>
              </a:spcAft>
              <a:buSzPct val="100000"/>
              <a:buChar char="•"/>
            </a:pPr>
            <a:r>
              <a:rPr lang="en-US" sz="1700" dirty="0">
                <a:solidFill>
                  <a:schemeClr val="tx1"/>
                </a:solidFill>
              </a:rPr>
              <a:t>Java's own helpers are filters: BufferedInputStream, DataInputStream and PrintStream.</a:t>
            </a:r>
            <a:endParaRPr lang="en-US" sz="1700" dirty="0"/>
          </a:p>
          <a:p>
            <a:pPr marL="342900" indent="-342900">
              <a:spcAft>
                <a:spcPts val="1200"/>
              </a:spcAft>
              <a:buSzPct val="100000"/>
              <a:buChar char="•"/>
            </a:pPr>
            <a:r>
              <a:rPr lang="en-US" sz="1700" dirty="0">
                <a:solidFill>
                  <a:schemeClr val="tx1"/>
                </a:solidFill>
              </a:rPr>
              <a:t>Order of wrapping matters. The outermost layer is the one your code talks to.</a:t>
            </a:r>
            <a:endParaRPr lang="en-US" sz="1700" dirty="0"/>
          </a:p>
          <a:p>
            <a:pPr marL="342900" indent="-342900">
              <a:spcAft>
                <a:spcPts val="1200"/>
              </a:spcAft>
              <a:buSzPct val="100000"/>
              <a:buChar char="•"/>
            </a:pPr>
            <a:r>
              <a:rPr lang="en-US" sz="1700" dirty="0">
                <a:solidFill>
                  <a:schemeClr val="tx1"/>
                </a:solidFill>
              </a:rPr>
              <a:t>Preserve -1. If the wrapped stream says 'finished', your filter must say so too.</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5</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Shouting Filter</a:t>
            </a:r>
            <a:endParaRPr lang="en-US" sz="2800" dirty="0"/>
          </a:p>
        </p:txBody>
      </p:sp>
      <p:sp>
        <p:nvSpPr>
          <p:cNvPr id="4"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Create ShoutingInputStream. It wraps any input stream and turns every lowercase letter into uppercase as it is read. Everything else passes through unchanged.</a:t>
            </a:r>
            <a:endParaRPr lang="en-US" sz="1400" dirty="0"/>
          </a:p>
        </p:txBody>
      </p:sp>
      <p:sp>
        <p:nvSpPr>
          <p:cNvPr id="5"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Extend FilterInputStream.</a:t>
            </a:r>
            <a:endParaRPr lang="en-US" sz="1300" dirty="0"/>
          </a:p>
          <a:p>
            <a:pPr marL="342900" indent="-342900">
              <a:spcAft>
                <a:spcPts val="500"/>
              </a:spcAft>
              <a:buSzPct val="100000"/>
              <a:buFont typeface="+mj-lt"/>
              <a:buAutoNum type="arabicPeriod" startAt="1"/>
            </a:pPr>
            <a:r>
              <a:rPr lang="en-US" sz="1300" dirty="0">
                <a:solidFill>
                  <a:schemeClr val="tx1"/>
                </a:solidFill>
              </a:rPr>
              <a:t>Override the single-byte read(): get the byte, convert it if it is a lowercase letter, keep -1 as -1.</a:t>
            </a:r>
            <a:endParaRPr lang="en-US" sz="1300" dirty="0"/>
          </a:p>
          <a:p>
            <a:pPr marL="342900" indent="-342900">
              <a:spcAft>
                <a:spcPts val="500"/>
              </a:spcAft>
              <a:buSzPct val="100000"/>
              <a:buFont typeface="+mj-lt"/>
              <a:buAutoNum type="arabicPeriod" startAt="1"/>
            </a:pPr>
            <a:r>
              <a:rPr lang="en-US" sz="1300" dirty="0">
                <a:solidFill>
                  <a:schemeClr val="tx1"/>
                </a:solidFill>
              </a:rPr>
              <a:t>Test by wrapping a stream over 'quiet text, 123!' and printing what comes out.</a:t>
            </a:r>
            <a:endParaRPr lang="en-US" sz="1300" dirty="0"/>
          </a:p>
        </p:txBody>
      </p:sp>
      <p:sp>
        <p:nvSpPr>
          <p:cNvPr id="6"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7"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QUIET TEXT, 123!</a:t>
            </a:r>
            <a:endParaRPr lang="en-US" sz="1000" dirty="0"/>
          </a:p>
        </p:txBody>
      </p:sp>
      <p:sp>
        <p:nvSpPr>
          <p:cNvPr id="8"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wrapping, extending a filter, why -1 must be preserved. Bonus: a ROT13 output filter.</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6 · BUFFERED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Carry a bag, not one item per trip</a:t>
            </a:r>
            <a:endParaRPr lang="en-US" sz="2800" dirty="0"/>
          </a:p>
        </p:txBody>
      </p:sp>
      <p:sp>
        <p:nvSpPr>
          <p:cNvPr id="4" name="Intro"/>
          <p:cNvSpPr txBox="1"/>
          <p:nvPr/>
        </p:nvSpPr>
        <p:spPr>
          <a:xfrm>
            <a:off x="548640" y="1234440"/>
            <a:ext cx="8046720" cy="868680"/>
          </a:xfrm>
          <a:prstGeom prst="rect">
            <a:avLst/>
          </a:prstGeom>
          <a:noFill/>
          <a:ln/>
        </p:spPr>
        <p:txBody>
          <a:bodyPr wrap="square" lIns="0" tIns="0" rIns="0" bIns="0" rtlCol="0" anchor="t"/>
          <a:lstStyle/>
          <a:p>
            <a:pPr indent="0" marL="0">
              <a:buNone/>
            </a:pPr>
            <a:r>
              <a:rPr lang="en-US" sz="1600" dirty="0">
                <a:solidFill>
                  <a:schemeClr val="tx1"/>
                </a:solidFill>
              </a:rPr>
              <a:t>Talking to a disk is slow. A buffered stream keeps a holding area in memory and talks to the disk in big batches.</a:t>
            </a:r>
            <a:endParaRPr lang="en-US" sz="1600" dirty="0"/>
          </a:p>
        </p:txBody>
      </p:sp>
      <p:sp>
        <p:nvSpPr>
          <p:cNvPr id="5" name="Card0"/>
          <p:cNvSpPr/>
          <p:nvPr/>
        </p:nvSpPr>
        <p:spPr>
          <a:xfrm>
            <a:off x="548640" y="2286000"/>
            <a:ext cx="2560320" cy="2194560"/>
          </a:xfrm>
          <a:prstGeom prst="roundRect">
            <a:avLst>
              <a:gd name="adj" fmla="val 4167"/>
            </a:avLst>
          </a:prstGeom>
          <a:solidFill>
            <a:schemeClr val="bg2"/>
          </a:solidFill>
          <a:ln w="12700">
            <a:solidFill>
              <a:schemeClr val="bg2"/>
            </a:solidFill>
            <a:prstDash val="solid"/>
          </a:ln>
        </p:spPr>
      </p:sp>
      <p:sp>
        <p:nvSpPr>
          <p:cNvPr id="6" name="CardText0"/>
          <p:cNvSpPr txBox="1"/>
          <p:nvPr/>
        </p:nvSpPr>
        <p:spPr>
          <a:xfrm>
            <a:off x="6858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BufferedInputStream</a:t>
            </a:r>
            <a:endParaRPr lang="en-US" sz="1500" dirty="0"/>
          </a:p>
          <a:p>
            <a:pPr indent="0" marL="0">
              <a:spcAft>
                <a:spcPts val="600"/>
              </a:spcAft>
              <a:buNone/>
            </a:pPr>
            <a:r>
              <a:rPr lang="en-US" sz="1300" dirty="0">
                <a:solidFill>
                  <a:schemeClr val="tx1"/>
                </a:solidFill>
              </a:rPr>
              <a:t>Reads a big chunk ahead, then hands bytes out from memory.</a:t>
            </a:r>
            <a:endParaRPr lang="en-US" sz="1500" dirty="0"/>
          </a:p>
        </p:txBody>
      </p:sp>
      <p:sp>
        <p:nvSpPr>
          <p:cNvPr id="7" name="Card1"/>
          <p:cNvSpPr/>
          <p:nvPr/>
        </p:nvSpPr>
        <p:spPr>
          <a:xfrm>
            <a:off x="3291840" y="2286000"/>
            <a:ext cx="2560320" cy="2194560"/>
          </a:xfrm>
          <a:prstGeom prst="roundRect">
            <a:avLst>
              <a:gd name="adj" fmla="val 4167"/>
            </a:avLst>
          </a:prstGeom>
          <a:solidFill>
            <a:schemeClr val="bg2"/>
          </a:solidFill>
          <a:ln w="12700">
            <a:solidFill>
              <a:schemeClr val="bg2"/>
            </a:solidFill>
            <a:prstDash val="solid"/>
          </a:ln>
        </p:spPr>
      </p:sp>
      <p:sp>
        <p:nvSpPr>
          <p:cNvPr id="8" name="CardText1"/>
          <p:cNvSpPr txBox="1"/>
          <p:nvPr/>
        </p:nvSpPr>
        <p:spPr>
          <a:xfrm>
            <a:off x="34290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BufferedOutputStream</a:t>
            </a:r>
            <a:endParaRPr lang="en-US" sz="1500" dirty="0"/>
          </a:p>
          <a:p>
            <a:pPr indent="0" marL="0">
              <a:spcAft>
                <a:spcPts val="600"/>
              </a:spcAft>
              <a:buNone/>
            </a:pPr>
            <a:r>
              <a:rPr lang="en-US" sz="1300" dirty="0">
                <a:solidFill>
                  <a:schemeClr val="tx1"/>
                </a:solidFill>
              </a:rPr>
              <a:t>Collects bytes and writes them out together.</a:t>
            </a:r>
            <a:endParaRPr lang="en-US" sz="1500" dirty="0"/>
          </a:p>
        </p:txBody>
      </p:sp>
      <p:sp>
        <p:nvSpPr>
          <p:cNvPr id="9" name="Card2"/>
          <p:cNvSpPr/>
          <p:nvPr/>
        </p:nvSpPr>
        <p:spPr>
          <a:xfrm>
            <a:off x="6035040" y="2286000"/>
            <a:ext cx="2560320" cy="2194560"/>
          </a:xfrm>
          <a:prstGeom prst="roundRect">
            <a:avLst>
              <a:gd name="adj" fmla="val 4167"/>
            </a:avLst>
          </a:prstGeom>
          <a:solidFill>
            <a:schemeClr val="bg2"/>
          </a:solidFill>
          <a:ln w="12700">
            <a:solidFill>
              <a:schemeClr val="bg2"/>
            </a:solidFill>
            <a:prstDash val="solid"/>
          </a:ln>
        </p:spPr>
      </p:sp>
      <p:sp>
        <p:nvSpPr>
          <p:cNvPr id="10" name="CardText2"/>
          <p:cNvSpPr txBox="1"/>
          <p:nvPr/>
        </p:nvSpPr>
        <p:spPr>
          <a:xfrm>
            <a:off x="6172200" y="2377440"/>
            <a:ext cx="2286000" cy="201168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Don't forget</a:t>
            </a:r>
            <a:endParaRPr lang="en-US" sz="1500" dirty="0"/>
          </a:p>
          <a:p>
            <a:pPr indent="0" marL="0">
              <a:spcAft>
                <a:spcPts val="600"/>
              </a:spcAft>
              <a:buNone/>
            </a:pPr>
            <a:r>
              <a:rPr lang="en-US" sz="1300" dirty="0">
                <a:solidFill>
                  <a:schemeClr val="tx1"/>
                </a:solidFill>
              </a:rPr>
              <a:t>flush() or close() sends the last bytes. Skip it and data can go missing.</a:t>
            </a:r>
            <a:endParaRPr lang="en-US" sz="15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6 · BUFFERED STREAMS</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How buffering works</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The default buffer is 8 KB. One disk trip serves thousands of read() calls.</a:t>
            </a:r>
            <a:endParaRPr lang="en-US" sz="1700" dirty="0"/>
          </a:p>
          <a:p>
            <a:pPr marL="342900" indent="-342900">
              <a:spcAft>
                <a:spcPts val="1200"/>
              </a:spcAft>
              <a:buSzPct val="100000"/>
              <a:buChar char="•"/>
            </a:pPr>
            <a:r>
              <a:rPr lang="en-US" sz="1700" dirty="0">
                <a:solidFill>
                  <a:schemeClr val="tx1"/>
                </a:solidFill>
              </a:rPr>
              <a:t>A plain read() or write() on a file is a request to the operating system. Millions of them add up.</a:t>
            </a:r>
            <a:endParaRPr lang="en-US" sz="1700" dirty="0"/>
          </a:p>
          <a:p>
            <a:pPr marL="342900" indent="-342900">
              <a:spcAft>
                <a:spcPts val="1200"/>
              </a:spcAft>
              <a:buSzPct val="100000"/>
              <a:buChar char="•"/>
            </a:pPr>
            <a:r>
              <a:rPr lang="en-US" sz="1700" dirty="0">
                <a:solidFill>
                  <a:schemeClr val="tx1"/>
                </a:solidFill>
              </a:rPr>
              <a:t>Buffered streams are filter streams (idea 5): wrap your file stream, change nothing else in the loop.</a:t>
            </a:r>
            <a:endParaRPr lang="en-US" sz="1700" dirty="0"/>
          </a:p>
          <a:p>
            <a:pPr marL="342900" indent="-342900">
              <a:spcAft>
                <a:spcPts val="1200"/>
              </a:spcAft>
              <a:buSzPct val="100000"/>
              <a:buChar char="•"/>
            </a:pPr>
            <a:r>
              <a:rPr lang="en-US" sz="1700" dirty="0">
                <a:solidFill>
                  <a:schemeClr val="tx1"/>
                </a:solidFill>
              </a:rPr>
              <a:t>Trade-off: a little memory for a lot of speed. Reading into your own array gives a similar effect.</a:t>
            </a:r>
            <a:endParaRPr lang="en-US" sz="1700" dirty="0"/>
          </a:p>
          <a:p>
            <a:pPr marL="342900" indent="-342900">
              <a:spcAft>
                <a:spcPts val="1200"/>
              </a:spcAft>
              <a:buSzPct val="100000"/>
              <a:buChar char="•"/>
            </a:pPr>
            <a:r>
              <a:rPr lang="en-US" sz="1700" dirty="0">
                <a:solidFill>
                  <a:schemeClr val="tx1"/>
                </a:solidFill>
              </a:rPr>
              <a:t>In real projects, Files.copy does all of this in one line. Today we learn what's underneath.</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LIVE CHALLENGE 6</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Speed Race</a:t>
            </a:r>
            <a:endParaRPr lang="en-US" sz="2800" dirty="0"/>
          </a:p>
        </p:txBody>
      </p:sp>
      <p:sp>
        <p:nvSpPr>
          <p:cNvPr id="5" name="Story"/>
          <p:cNvSpPr txBox="1"/>
          <p:nvPr/>
        </p:nvSpPr>
        <p:spPr>
          <a:xfrm>
            <a:off x="548640" y="1234440"/>
            <a:ext cx="5029200" cy="914400"/>
          </a:xfrm>
          <a:prstGeom prst="rect">
            <a:avLst/>
          </a:prstGeom>
          <a:noFill/>
          <a:ln/>
        </p:spPr>
        <p:txBody>
          <a:bodyPr wrap="square" lIns="0" tIns="0" rIns="0" bIns="0" rtlCol="0" anchor="t"/>
          <a:lstStyle/>
          <a:p>
            <a:pPr indent="0" marL="0">
              <a:buNone/>
            </a:pPr>
            <a:r>
              <a:rPr lang="en-US" sz="1400" dirty="0">
                <a:solidFill>
                  <a:schemeClr val="tx1"/>
                </a:solidFill>
              </a:rPr>
              <a:t>Copy big.bin (about 10 MB) twice and see how much faster buffering makes it.</a:t>
            </a:r>
            <a:endParaRPr lang="en-US" sz="1400" dirty="0"/>
          </a:p>
        </p:txBody>
      </p:sp>
      <p:sp>
        <p:nvSpPr>
          <p:cNvPr id="6" name="Steps"/>
          <p:cNvSpPr txBox="1"/>
          <p:nvPr/>
        </p:nvSpPr>
        <p:spPr>
          <a:xfrm>
            <a:off x="548640" y="2194560"/>
            <a:ext cx="5029200" cy="219456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Copy 1: plain file streams, one byte at a time.</a:t>
            </a:r>
            <a:endParaRPr lang="en-US" sz="1300" dirty="0"/>
          </a:p>
          <a:p>
            <a:pPr marL="342900" indent="-342900">
              <a:spcAft>
                <a:spcPts val="500"/>
              </a:spcAft>
              <a:buSzPct val="100000"/>
              <a:buFont typeface="+mj-lt"/>
              <a:buAutoNum type="arabicPeriod" startAt="1"/>
            </a:pPr>
            <a:r>
              <a:rPr lang="en-US" sz="1300" dirty="0">
                <a:solidFill>
                  <a:schemeClr val="tx1"/>
                </a:solidFill>
              </a:rPr>
              <a:t>Copy 2: the same loop, but wrap both streams in buffered streams.</a:t>
            </a:r>
            <a:endParaRPr lang="en-US" sz="1300" dirty="0"/>
          </a:p>
          <a:p>
            <a:pPr marL="342900" indent="-342900">
              <a:spcAft>
                <a:spcPts val="500"/>
              </a:spcAft>
              <a:buSzPct val="100000"/>
              <a:buFont typeface="+mj-lt"/>
              <a:buAutoNum type="arabicPeriod" startAt="1"/>
            </a:pPr>
            <a:r>
              <a:rPr lang="en-US" sz="1300" dirty="0">
                <a:solidFill>
                  <a:schemeClr val="tx1"/>
                </a:solidFill>
              </a:rPr>
              <a:t>Time each with System.nanoTime() and print milliseconds.</a:t>
            </a:r>
            <a:endParaRPr lang="en-US" sz="1300" dirty="0"/>
          </a:p>
          <a:p>
            <a:pPr marL="342900" indent="-342900">
              <a:spcAft>
                <a:spcPts val="500"/>
              </a:spcAft>
              <a:buSzPct val="100000"/>
              <a:buFont typeface="+mj-lt"/>
              <a:buAutoNum type="arabicPeriod" startAt="1"/>
            </a:pPr>
            <a:r>
              <a:rPr lang="en-US" sz="1300" dirty="0">
                <a:solidFill>
                  <a:schemeClr val="tx1"/>
                </a:solidFill>
              </a:rPr>
              <a:t>Print how many times faster the buffered copy was.</a:t>
            </a:r>
            <a:endParaRPr lang="en-US" sz="1300" dirty="0"/>
          </a:p>
        </p:txBody>
      </p:sp>
      <p:sp>
        <p:nvSpPr>
          <p:cNvPr id="7" name="OutputBox"/>
          <p:cNvSpPr/>
          <p:nvPr/>
        </p:nvSpPr>
        <p:spPr>
          <a:xfrm>
            <a:off x="5852160" y="1280160"/>
            <a:ext cx="2834640" cy="2377440"/>
          </a:xfrm>
          <a:prstGeom prst="roundRect">
            <a:avLst>
              <a:gd name="adj" fmla="val 3846"/>
            </a:avLst>
          </a:prstGeom>
          <a:solidFill>
            <a:schemeClr val="bg2"/>
          </a:solidFill>
          <a:ln w="12700">
            <a:solidFill>
              <a:schemeClr val="bg2"/>
            </a:solidFill>
            <a:prstDash val="solid"/>
          </a:ln>
        </p:spPr>
      </p:sp>
      <p:sp>
        <p:nvSpPr>
          <p:cNvPr id="8" name="OutputText"/>
          <p:cNvSpPr txBox="1"/>
          <p:nvPr/>
        </p:nvSpPr>
        <p:spPr>
          <a:xfrm>
            <a:off x="5989320" y="1371600"/>
            <a:ext cx="2560320" cy="2194560"/>
          </a:xfrm>
          <a:prstGeom prst="rect">
            <a:avLst/>
          </a:prstGeom>
          <a:noFill/>
          <a:ln/>
        </p:spPr>
        <p:txBody>
          <a:bodyPr wrap="square" lIns="0" tIns="0" rIns="0" bIns="0" rtlCol="0" anchor="t"/>
          <a:lstStyle/>
          <a:p>
            <a:pPr indent="0" marL="0">
              <a:spcAft>
                <a:spcPts val="600"/>
              </a:spcAft>
              <a:buNone/>
            </a:pPr>
            <a:r>
              <a:rPr lang="en-US" sz="1000" b="1" spc="200" kern="0" dirty="0">
                <a:solidFill>
                  <a:schemeClr val="accent1"/>
                </a:solidFill>
              </a:rPr>
              <a:t>EXPECTED OUTPUT</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Plain:    4100 ms</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Buffered:   26 ms</a:t>
            </a:r>
            <a:endParaRPr lang="en-US" sz="1000" dirty="0"/>
          </a:p>
          <a:p>
            <a:pPr indent="0" marL="0">
              <a:spcAft>
                <a:spcPts val="600"/>
              </a:spcAft>
              <a:buNone/>
            </a:pPr>
            <a:r>
              <a:rPr lang="en-US" sz="1100" dirty="0">
                <a:solidFill>
                  <a:schemeClr val="tx1"/>
                </a:solidFill>
                <a:latin typeface="Consolas" pitchFamily="34" charset="0"/>
                <a:ea typeface="Consolas" pitchFamily="34" charset="-122"/>
                <a:cs typeface="Consolas" pitchFamily="34" charset="-120"/>
              </a:rPr>
              <a:t>Buffered was ~158x faster</a:t>
            </a:r>
            <a:endParaRPr lang="en-US" sz="1000" dirty="0"/>
          </a:p>
        </p:txBody>
      </p:sp>
      <p:sp>
        <p:nvSpPr>
          <p:cNvPr id="9" name="Shows"/>
          <p:cNvSpPr txBox="1"/>
          <p:nvPr/>
        </p:nvSpPr>
        <p:spPr>
          <a:xfrm>
            <a:off x="548640" y="4434840"/>
            <a:ext cx="7498080" cy="365760"/>
          </a:xfrm>
          <a:prstGeom prst="rect">
            <a:avLst/>
          </a:prstGeom>
          <a:noFill/>
          <a:ln/>
        </p:spPr>
        <p:txBody>
          <a:bodyPr wrap="square" lIns="0" tIns="0" rIns="0" bIns="0" rtlCol="0" anchor="ctr"/>
          <a:lstStyle/>
          <a:p>
            <a:pPr indent="0" marL="0">
              <a:buNone/>
            </a:pPr>
            <a:r>
              <a:rPr lang="en-US" sz="1200" i="1" dirty="0">
                <a:solidFill>
                  <a:schemeClr val="tx2"/>
                </a:solidFill>
              </a:rPr>
              <a:t>Shows: buffering, wrapping streams, why close() matters. Your numbers will differ; the gap is the point.</a:t>
            </a:r>
            <a:endParaRPr lang="en-US" sz="12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
          <p:cNvSpPr txBox="1"/>
          <p:nvPr/>
        </p:nvSpPr>
        <p:spPr>
          <a:xfrm>
            <a:off x="548640" y="228600"/>
            <a:ext cx="6400800"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WRAP-UP</a:t>
            </a:r>
            <a:endParaRPr lang="en-US" sz="1100" dirty="0"/>
          </a:p>
        </p:txBody>
      </p:sp>
      <p:sp>
        <p:nvSpPr>
          <p:cNvPr id="3" name="Text 1"/>
          <p:cNvSpPr/>
          <p:nvPr>
            <p:ph idx="101" type="title" hasCustomPrompt="1"/>
          </p:nvPr>
        </p:nvSpPr>
        <p:spPr>
          <a:xfrm>
            <a:off x="548640" y="502920"/>
            <a:ext cx="8046720" cy="731520"/>
          </a:xfrm>
          <a:prstGeom prst="rect">
            <a:avLst/>
          </a:prstGeom>
          <a:noFill/>
          <a:ln/>
        </p:spPr>
        <p:txBody>
          <a:bodyPr wrap="square" lIns="0" tIns="0" rIns="0" bIns="0" rtlCol="0" anchor="t"/>
          <a:lstStyle/>
          <a:p>
            <a:pPr indent="0" marL="0">
              <a:buNone/>
            </a:pPr>
            <a:r>
              <a:rPr lang="en-US" sz="2800" b="1" dirty="0">
                <a:solidFill>
                  <a:schemeClr val="tx1"/>
                </a:solidFill>
              </a:rPr>
              <a:t>The whole picture</a:t>
            </a:r>
            <a:endParaRPr lang="en-US" sz="2800" dirty="0"/>
          </a:p>
        </p:txBody>
      </p:sp>
      <p:sp>
        <p:nvSpPr>
          <p:cNvPr id="4" name="Bullets"/>
          <p:cNvSpPr txBox="1"/>
          <p:nvPr/>
        </p:nvSpPr>
        <p:spPr>
          <a:xfrm>
            <a:off x="548640" y="1325880"/>
            <a:ext cx="804672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A stream is a one-way pipe of bytes: input or output.</a:t>
            </a:r>
            <a:endParaRPr lang="en-US" sz="1700" dirty="0"/>
          </a:p>
          <a:p>
            <a:pPr marL="342900" indent="-342900">
              <a:spcAft>
                <a:spcPts val="1200"/>
              </a:spcAft>
              <a:buSzPct val="100000"/>
              <a:buChar char="•"/>
            </a:pPr>
            <a:r>
              <a:rPr lang="en-US" sz="1700" dirty="0">
                <a:solidFill>
                  <a:schemeClr val="tx1"/>
                </a:solidFill>
              </a:rPr>
              <a:t>File streams connect the pipe to a file.</a:t>
            </a:r>
            <a:endParaRPr lang="en-US" sz="1700" dirty="0"/>
          </a:p>
          <a:p>
            <a:pPr marL="342900" indent="-342900">
              <a:spcAft>
                <a:spcPts val="1200"/>
              </a:spcAft>
              <a:buSzPct val="100000"/>
              <a:buChar char="•"/>
            </a:pPr>
            <a:r>
              <a:rPr lang="en-US" sz="1700" dirty="0">
                <a:solidFill>
                  <a:schemeClr val="tx1"/>
                </a:solidFill>
              </a:rPr>
              <a:t>Filter and buffered streams wrap a pipe to add behaviour or speed.</a:t>
            </a:r>
            <a:endParaRPr lang="en-US" sz="1700" dirty="0"/>
          </a:p>
          <a:p>
            <a:pPr marL="342900" indent="-342900">
              <a:spcAft>
                <a:spcPts val="1200"/>
              </a:spcAft>
              <a:buSzPct val="100000"/>
              <a:buChar char="•"/>
            </a:pPr>
            <a:r>
              <a:rPr lang="en-US" sz="1700" dirty="0">
                <a:solidFill>
                  <a:schemeClr val="tx1"/>
                </a:solidFill>
              </a:rPr>
              <a:t>Always close what you open, and expect things to fail.</a:t>
            </a:r>
            <a:endParaRPr lang="en-US" sz="1700" dirty="0"/>
          </a:p>
          <a:p>
            <a:pPr marL="342900" indent="-342900">
              <a:spcAft>
                <a:spcPts val="1200"/>
              </a:spcAft>
              <a:buSzPct val="100000"/>
              <a:buChar char="•"/>
            </a:pPr>
            <a:r>
              <a:rPr lang="en-US" sz="1700" dirty="0">
                <a:solidFill>
                  <a:schemeClr val="tx1"/>
                </a:solidFill>
              </a:rPr>
              <a:t>In real projects, look at java.nio.file (Files, Path). Questions?</a:t>
            </a:r>
            <a:endParaRPr lang="en-US" sz="1700" dirty="0"/>
          </a:p>
        </p:txBody>
      </p:sp>
      <p:sp>
        <p:nvSpPr>
          <p:cNvPr id="25" name="Slide Number Placeholder 0"/>
          <p:cNvSpPr>
            <a:spLocks noGrp="1"/>
          </p:cNvSpPr>
          <p:nvPr>
            <p:ph type="sldNum" sz="quarter" idx="4294967295"/>
          </p:nvPr>
        </p:nvSpPr>
        <p:spPr>
          <a:xfrm>
            <a:off x="8229600" y="47548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JavaIO">
  <a:themeElements>
    <a:clrScheme name="JavaIO">
      <a:dk1>
        <a:srgbClr val="1D2433"/>
      </a:dk1>
      <a:lt1>
        <a:srgbClr val="FAFAF7"/>
      </a:lt1>
      <a:dk2>
        <a:srgbClr val="5B6475"/>
      </a:dk2>
      <a:lt2>
        <a:srgbClr val="EFEDE6"/>
      </a:lt2>
      <a:accent1>
        <a:srgbClr val="D9480F"/>
      </a:accent1>
      <a:accent2>
        <a:srgbClr val="2F6FDE"/>
      </a:accent2>
      <a:accent3>
        <a:srgbClr val="2F9E6E"/>
      </a:accent3>
      <a:accent4>
        <a:srgbClr val="B8860B"/>
      </a:accent4>
      <a:accent5>
        <a:srgbClr val="7A4CC2"/>
      </a:accent5>
      <a:accent6>
        <a:srgbClr val="C2255C"/>
      </a:accent6>
      <a:hlink>
        <a:srgbClr val="2F6FDE"/>
      </a:hlink>
      <a:folHlink>
        <a:srgbClr val="7A4CC2"/>
      </a:folHlink>
    </a:clrScheme>
    <a:fontScheme name="JavaIO">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I/O Streams</dc:title>
  <dc:subject>PptxGenJS Presentation</dc:subject>
  <dc:creator>PptxGenJS</dc:creator>
  <cp:lastModifiedBy>PptxGenJS</cp:lastModifiedBy>
  <cp:revision>1</cp:revision>
  <dcterms:created xsi:type="dcterms:W3CDTF">2026-10-05T16:08:18Z</dcterms:created>
  <dcterms:modified xsi:type="dcterms:W3CDTF">2026-10-05T16:08:18Z</dcterms:modified>
</cp:coreProperties>
</file>